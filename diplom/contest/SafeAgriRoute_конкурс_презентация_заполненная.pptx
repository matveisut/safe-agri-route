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Mulish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Ca5ZYw6VaQt2xxky0d4Uuf1cR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font" Target="fonts/Mulish-regular.fntdata"/><Relationship Id="rId20" Type="http://schemas.openxmlformats.org/officeDocument/2006/relationships/font" Target="fonts/Mulish-bold.fntdata"/><Relationship Id="rId21" Type="http://schemas.openxmlformats.org/officeDocument/2006/relationships/font" Target="fonts/Mulish-italic.fntdata"/><Relationship Id="rId22" Type="http://schemas.openxmlformats.org/officeDocument/2006/relationships/font" Target="fonts/Mulish-boldItalic.fntdata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Титульный слайд используется для первичного представления стартапа. На нем размещаются название проекта, логотип, слоган и краткое описание (в одно предложение), позволяющее сразу понять суть и направление проекта. При наличии может быть дополнительно указана ссылка на официальный сайт, онлайн-страницу продукта или сообщество проекта.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Что показывать: четко сформулируйте проблему вашей целевой аудитории. Не просто «неудобно», а конкретно: какие потери (время, деньги, детали, сырье, человеко-часы и пр.) они несут из-за этого. Обоснуйте, что проблема реальна и значима: приведите данные из маркетинговых исследований, открытой статистики, отраслевых отчетов. Покажите масштаб боли цифрами.</a:t>
            </a:r>
            <a:endParaRPr sz="900"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Что показывать: подробно раскройте предлагаемое вами решение выявленной проблемы. Краткое описание </a:t>
            </a:r>
            <a:r>
              <a:rPr lang="ru-RU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продукта (технологии или услуги)</a:t>
            </a:r>
            <a:r>
              <a:rPr lang="ru-RU"/>
              <a:t>, логика работы, его ключевые функции и принцип действия, за счет каких механизмов достигается устранение обозначенных потерь (“болей”) целевой аудитории.</a:t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Что показывать: чем ваш подход/продукт/технология принципиально лучше или отличается от существующих? Далее – доказательства, что ваша идея востребована. Представьте результаты первичного тестирования гипотез: например, выводы из 5-10 «глубинных» интервью с потенциальными клиентами и др.</a:t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Что показывать: </a:t>
            </a:r>
            <a:r>
              <a:rPr lang="ru-RU" sz="1150">
                <a:solidFill>
                  <a:schemeClr val="dk1"/>
                </a:solidFill>
              </a:rPr>
              <a:t>на этом слайде наглядно демонстрируется продукт и его реализация. В зависимости от типа продукта показываются профессиональные изображения, схемы или скриншоты ключевых экранов, отражающие основную функциональность и пользовательский опыт. Дополнительно указывается статус правовой защиты (при наличии). В том числе могут быть размещены QR-коды для доступа к прототипу, демо-версии, дополнительным материалам и т.д. с учетом особенностей вашего проекта. Цель слайда - визуально подтвердить работоспособность решения и его практическую применимость.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Что показывать: фактические итоги тестового запуска, например, за 1, 2, 3 месяца (не планы!).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Количественные метрики: что измеряли (например: регистрации, конверсия в покупку, средний чек, удержание) и какие цифры получили.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Качественные выводы: главные инсайты из обратной связи (опросы, интервью). Соответствуют ли результаты вашим ожиданиям? Какие гипотезы подтвердились/опроверглись?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Кратко опишите, как вы собирали эти данные.</a:t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Бизнес-модель (как вы будете создавать ценность и зарабатывать). Что показывать: лучше всего – визуализированная схема. Обязательно раскройте: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ru-RU"/>
              <a:t>Ценностное предложение: ваша ключевая выгода для клиента.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ru-RU"/>
              <a:t>Потоки доходов: как именно будут поступать деньги (продажа подписки, транзакционная комиссия, лицензия и т.д.).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ru-RU"/>
              <a:t>Ключевые ресурсы и деятельность: что и как вы делаете для создания ценности.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ru-RU"/>
              <a:t>Каналы сбыта: как клиент о вас узнает и купит.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ru-RU"/>
              <a:t>Структура издержек: основные статьи расходов.</a:t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Что показывать: определите ваш рынок (нишу) и покажите его потенциал.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Объем рынка (TAM/SAM/SOM): цифры в денежном выражении.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Тренды и драйверы роста: что заставляет рынок расти, какие темпы роста? Приведите данные аналитических изданий (с прогнозом на 3-5 лет).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Вывод: почему сейчас удачный момент для выхода?</a:t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Что показывать: таблица или матрица сравнения с 3-5 ключевыми конкурентами/альтернативами по важным для клиента критериям (цена, функционал, удобство, качество и т.д.).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Наглядно выделите ваши ключевые преимущества (уникальное торговое предложение).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Стратегия: как вы планируете отстроиться от конкурентов и защитить свои позиции?</a:t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Что показывать: выберите ключевые для вашего проекта метрики, которые покажут его финансовую логику. Это не бухгалтерский отчет, а выжимка.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Например: выручка на горизонте 1-3 лет (оптимистичный/пессимистичный сценарии), основные статьи расходов, расчет точки безубыточности.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Важные показатели на выбор: план продаж, маржинальность, юнит-экономика, потребность в оборотном капитале, ключевые финансовые коэффициенты, окупаемость, рентабельность и т.д.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Главное: показать логику расчета и реалистичность прогнозов.</a:t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Рост или дорожная карта (куда движемся дальше).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Что показывать: этот слайд про прошлое, настоящее и ближайшее будущее.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Ключевые точки: что уже прошли, где сейчас, что дальше? Цели на 6-12-18 месяцев: не абстрактные («стать лидером»), а измеримые (добиться X выручки, занять Y% ниши, выйти в регион Z, запустить новую фичу A).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Показатели роста: какие метрики вы будете отслеживать как индикаторы успеха.</a:t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Что показывать: </a:t>
            </a:r>
            <a:r>
              <a:rPr lang="ru-RU">
                <a:solidFill>
                  <a:schemeClr val="dk1"/>
                </a:solidFill>
              </a:rPr>
              <a:t>важно показать, что команда настроена серьезно и не только осведомлена о возможных рисках, но и знает, как справляться с вероятными проблемами.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Составьте таблицу или матрицу с ключевыми рисками (рыночные, операционные, финансовые, кадровые), оценкой их вероятности и влияния.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Для каждого значимого риска кратко укажите план по его смягчению (что будем делать, чтобы он не реализовался; или как минимизируем ущерб, если это случится). Покажите, что вы учитываете риски.</a:t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1150">
                <a:solidFill>
                  <a:schemeClr val="dk1"/>
                </a:solidFill>
              </a:rPr>
              <a:t>Что показываем: на данном слайде формируется запрос на привлечение ресурсов для развития стартапа в качестве логического продолжения представленной бизнес-модели и финансовых расчетов. Указываются необходимый объем финансирования, цели использования средств и ожидаемый эффект для проекта (например: вывод продукта на рынок, преодоление “долины смерти”, рост выручки в N раз). Запрос может предполагать различные формы привлечения ресурсов - инвестиции, внешнее финансирование или собственные средства команды. Также раскрывается предложение для партнеров или инвесторов: форма участия, продаваемая доля и обоснование оценки компании. Слайд фиксирует потребность стартапа в ресурсах для реализации и масштабирования проекта и демонстрирует понимание командой логики устойчивого роста.</a:t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Mulish"/>
                <a:ea typeface="Mulish"/>
                <a:cs typeface="Mulish"/>
                <a:sym typeface="Mulis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Mulish"/>
                <a:ea typeface="Mulish"/>
                <a:cs typeface="Mulish"/>
                <a:sym typeface="Mulish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4000">
                <a:latin typeface="Mulish"/>
                <a:ea typeface="Mulish"/>
                <a:cs typeface="Mulish"/>
                <a:sym typeface="Mulis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200"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Mulish"/>
                <a:ea typeface="Mulish"/>
                <a:cs typeface="Mulish"/>
                <a:sym typeface="Mulis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ulish"/>
                <a:ea typeface="Mulish"/>
                <a:cs typeface="Mulish"/>
                <a:sym typeface="Mulis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ulish"/>
                <a:ea typeface="Mulish"/>
                <a:cs typeface="Mulish"/>
                <a:sym typeface="Mulis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Mulish"/>
                <a:ea typeface="Mulish"/>
                <a:cs typeface="Mulish"/>
                <a:sym typeface="Mulish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Mulish"/>
                <a:ea typeface="Mulish"/>
                <a:cs typeface="Mulish"/>
                <a:sym typeface="Mulish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ulish"/>
                <a:ea typeface="Mulish"/>
                <a:cs typeface="Mulish"/>
                <a:sym typeface="Mulis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Mulish"/>
                <a:ea typeface="Mulish"/>
                <a:cs typeface="Mulish"/>
                <a:sym typeface="Mulis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Mulish"/>
                <a:ea typeface="Mulish"/>
                <a:cs typeface="Mulish"/>
                <a:sym typeface="Mulish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Mulish"/>
                <a:ea typeface="Mulish"/>
                <a:cs typeface="Mulish"/>
                <a:sym typeface="Mulis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ulish"/>
                <a:ea typeface="Mulish"/>
                <a:cs typeface="Mulish"/>
                <a:sym typeface="Mulis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ulish"/>
                <a:ea typeface="Mulish"/>
                <a:cs typeface="Mulish"/>
                <a:sym typeface="Mulis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516294" y="655832"/>
            <a:ext cx="8235820" cy="10143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i="1" lang="ru-RU">
                <a:solidFill>
                  <a:schemeClr val="lt1"/>
                </a:solidFill>
              </a:rPr>
              <a:t>ПРОЕКТ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516294" y="359270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sz="1800"/>
              <a:t>Платформа безопасного планирования маршрутов агродронов</a:t>
            </a:r>
            <a:endParaRPr/>
          </a:p>
          <a:p>
            <a:r>
              <a:rPr sz="1800"/>
              <a:t>с учетом киберугроз и динамического перепланирования</a:t>
            </a:r>
          </a:p>
        </p:txBody>
      </p:sp>
      <p:sp>
        <p:nvSpPr>
          <p:cNvPr id="86" name="Google Shape;86;p1"/>
          <p:cNvSpPr txBox="1"/>
          <p:nvPr/>
        </p:nvSpPr>
        <p:spPr>
          <a:xfrm>
            <a:off x="516294" y="1691530"/>
            <a:ext cx="8235820" cy="1014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sz="1800"/>
              <a:t>SafeAgriRoute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569351" y="2683279"/>
            <a:ext cx="10776674" cy="1491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>
                <a:solidFill>
                  <a:srgbClr val="FD5427"/>
                </a:solidFill>
              </a:rPr>
              <a:t>ПРОБЛЕМА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Проблема: при помехах навигации дроны теряют маршрут, и обработка поля нарушается.</a:t>
            </a:r>
            <a:endParaRPr b="0" i="0" sz="20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  <a:p>
            <a:r>
              <a:t>По данным EASA/IATA, число событий потери GPS-сигнала выросло на 220% в 2021-2024.</a:t>
            </a:r>
          </a:p>
          <a:p>
            <a:r>
              <a:t>В России тема прикладная: нацпроект БАС делает ставку на массовое внедрение дронов, а значит цена сбоев растет.</a:t>
            </a:r>
          </a:p>
          <a:p>
            <a:r>
              <a:t>Для агробизнеса это деньги: срывы окон обработки, лишние вылеты и простой техники.</a:t>
            </a:r>
          </a:p>
          <a:p>
            <a:r>
              <a:t>Источник: EASA/IATA (18.06.2025), Правительство РФ — нацпроект «Беспилотные авиационные системы».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41359" y="2893948"/>
            <a:ext cx="110457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>
                <a:solidFill>
                  <a:srgbClr val="FD5427"/>
                </a:solidFill>
              </a:rPr>
              <a:t>РЕШЕНИЕ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SafeAgriRoute объединяет планирование миссий, обработку телеметрии и модуль оценки угроз.</a:t>
            </a:r>
            <a:endParaRPr b="0" i="0" sz="20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  <a:p>
            <a:r>
              <a:t>Алгоритм risk-aware маршрутизации избегает зоны повышенного риска и снижает вероятность срыва миссии.</a:t>
            </a:r>
          </a:p>
          <a:p>
            <a:r>
              <a:t>При изменении обстановки запускается автоматическое перепланирование маршрутов для группы БПЛА.</a:t>
            </a:r>
          </a:p>
          <a:p>
            <a:r>
              <a:t>Результат: более устойчивое выполнение задач при той же операционной команде.</a:t>
            </a:r>
          </a:p>
          <a:p>
            <a:r>
              <a:t>Источник: архитектура и реализация SafeAgriRoute (backend/frontend проекта).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541359" y="2893948"/>
            <a:ext cx="10035201" cy="107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>
                <a:solidFill>
                  <a:srgbClr val="FD5427"/>
                </a:solidFill>
              </a:rPr>
              <a:t>УНИКАЛЬНОСТЬ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Наша уникальность: киберугрозы учитываются сразу при построении маршрута.</a:t>
            </a:r>
            <a:endParaRPr b="0" i="0" sz="2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r>
              <a:t>В тестах SafeAgriRoute покрытие в сложном сценарии выросло с 21,87% до 91,82%.</a:t>
            </a:r>
          </a:p>
          <a:p>
            <a:r>
              <a:t>Опасные пролеты через jammer-зоны снижены с 2 до 0.</a:t>
            </a:r>
          </a:p>
          <a:p>
            <a:r>
              <a:t>Практический эффект: меньше ручных корректировок и меньше внеплановых затрат в сезоне.</a:t>
            </a:r>
          </a:p>
          <a:p>
            <a:r>
              <a:t>Источник: diplom/reports/validation_prompt20_report.md.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/>
        </p:nvSpPr>
        <p:spPr>
          <a:xfrm>
            <a:off x="550083" y="2005046"/>
            <a:ext cx="110919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 sz="4000">
                <a:solidFill>
                  <a:srgbClr val="FD5427"/>
                </a:solidFill>
              </a:rPr>
              <a:t>ОПИСАНИЕ ПРОДУКТА</a:t>
            </a:r>
            <a:endParaRPr sz="4000"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Продукт: веб-панель диспетчера миссий + backend планировщика + телеметрический контур.</a:t>
            </a:r>
            <a:endParaRPr b="0" i="0" sz="2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r>
              <a:t>Основные функции: создание миссии, визуализация risk-map, мониторинг состояния дронов, автоматическое перепланирование.</a:t>
            </a:r>
          </a:p>
          <a:p>
            <a:r>
              <a:t>Технологическая база: FastAPI, WebSocket-телеметрия, OR-Tools, PostGIS, MAVLink-интеграция.</a:t>
            </a:r>
          </a:p>
          <a:p>
            <a:r>
              <a:t>Для заявки: добавить скриншоты интерфейса и QR-ссылку на демо.</a:t>
            </a:r>
          </a:p>
          <a:p>
            <a:r>
              <a:t>Источник: репозиторий SafeAgriRoute (backend/, frontend/).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/>
        </p:nvSpPr>
        <p:spPr>
          <a:xfrm>
            <a:off x="568499" y="1545950"/>
            <a:ext cx="110550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20" name="Google Shape;12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 sz="4000">
                <a:solidFill>
                  <a:srgbClr val="FD5427"/>
                </a:solidFill>
              </a:rPr>
              <a:t>РЕЗУЛЬТАТЫ ТЕСТИРОВАНИЯ</a:t>
            </a:r>
            <a:endParaRPr sz="4000"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Мы проверили решение в трех сценариях: штатный, помехи, динамическая обстановка.</a:t>
            </a:r>
            <a:endParaRPr b="0" i="0" sz="2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r>
              <a:t>При помехах: покрытие выросло с 21,87% до 91,82%, опасные пересечения снижены с 2 до 0.</a:t>
            </a:r>
          </a:p>
          <a:p>
            <a:r>
              <a:t>В динамическом сценарии миссия достигла 100% покрытия к финалу.</a:t>
            </a:r>
          </a:p>
          <a:p>
            <a:r>
              <a:t>Это означает более предсказуемое выполнение работ и меньше переделок.</a:t>
            </a:r>
          </a:p>
          <a:p>
            <a:r>
              <a:t>Источник: backend/simulation + diplom/reports/validation_prompt20_report.md.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619899" y="2197198"/>
            <a:ext cx="108141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27" name="Google Shape;12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 sz="4000">
                <a:solidFill>
                  <a:srgbClr val="FD5427"/>
                </a:solidFill>
              </a:rPr>
              <a:t>БИЗНЕС-МОДЕЛЬ</a:t>
            </a: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Модель: B2B SaaS для агропредприятий с парком 3-20 БПЛА + услуги внедрения.</a:t>
            </a:r>
            <a:endParaRPr b="0" i="0" sz="2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r>
              <a:t>Ценность: снижение срывов миссий, уменьшение простоев и рост управляемости флота дронов.</a:t>
            </a:r>
          </a:p>
          <a:p>
            <a:r>
              <a:t>Доход: подписка (месяц/год), расширенные модули аналитики, интеграции и сопровождение.</a:t>
            </a:r>
          </a:p>
          <a:p>
            <a:r>
              <a:t>Каналы: пилоты с хозяйствами, партнеры-интеграторы, отраслевые агро- и ИБ-мероприятия.</a:t>
            </a:r>
          </a:p>
          <a:p>
            <a:r>
              <a:t>Источник: бизнес-гипотезы проекта SafeAgriRoute (diploma_main.md).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/>
        </p:nvSpPr>
        <p:spPr>
          <a:xfrm>
            <a:off x="541356" y="2737660"/>
            <a:ext cx="10804667" cy="138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34" name="Google Shape;1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 sz="4000">
                <a:solidFill>
                  <a:srgbClr val="FD5427"/>
                </a:solidFill>
              </a:rPr>
              <a:t>АНАЛИЗ РЫНКА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Целевой рынок — цифровое земледелие и управление агродронами в РФ и СНГ.</a:t>
            </a:r>
            <a:endParaRPr b="0" i="0" sz="2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r>
              <a:t>Глобальный ориентир: 2,63 млрд $ (2025) -&gt; 10,76 млрд $ (2030), рост более чем в 4 раза.</a:t>
            </a:r>
          </a:p>
          <a:p>
            <a:r>
              <a:t>Российский контекст: к 2030 доля отечественных БАС в рынке — 70,3%, техн. независимость — 81,1%.</a:t>
            </a:r>
          </a:p>
          <a:p>
            <a:r>
              <a:t>Вывод для клиента: надежность навигации — обязательный элемент экономики полевых работ.</a:t>
            </a:r>
          </a:p>
          <a:p>
            <a:r>
              <a:t>Источник: MarketsandMarkets; Правительство РФ — нацпроект БАС / Стратегия развития БАС.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/>
        </p:nvSpPr>
        <p:spPr>
          <a:xfrm>
            <a:off x="541357" y="2605136"/>
            <a:ext cx="10963288" cy="1647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1" name="Google Shape;14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 sz="4000">
                <a:solidFill>
                  <a:srgbClr val="FD5427"/>
                </a:solidFill>
              </a:rPr>
              <a:t>АНАЛИЗ КОНКУРЕНТОВ</a:t>
            </a:r>
            <a:endParaRPr/>
          </a:p>
        </p:txBody>
      </p:sp>
      <p:sp>
        <p:nvSpPr>
          <p:cNvPr id="142" name="Google Shape;142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Основные альтернативы: DJI FlightHub 2, DroneDeploy, Pix4Dfields.</a:t>
            </a:r>
            <a:endParaRPr b="0" i="0" sz="2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r>
              <a:t>Их фокус: управление/картография/аналитика, но без полноценного risk-aware маршрута под киберугрозы.</a:t>
            </a:r>
          </a:p>
          <a:p>
            <a:r>
              <a:t>Почему задача реальная: NTSB зафиксировал агро-инцидент с GPS-флуктуациями и травмой (CEN24LA380).</a:t>
            </a:r>
          </a:p>
          <a:p>
            <a:r>
              <a:t>Для России дополнительно важно: ЭПР по сельхоздронам запущен в 12 регионах — спрос на безопасную эксплуатацию уже практический.</a:t>
            </a:r>
          </a:p>
          <a:p>
            <a:r>
              <a:t>Источник: NTSB CEN24LA380; Минэкономразвития РФ (ЭПР сельхоз-БАС, 12 регионов).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/>
        </p:nvSpPr>
        <p:spPr>
          <a:xfrm>
            <a:off x="544382" y="2200736"/>
            <a:ext cx="111033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8" name="Google Shape;14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 sz="4000">
                <a:solidFill>
                  <a:srgbClr val="FD5427"/>
                </a:solidFill>
              </a:rPr>
              <a:t>ФИНАНСОВЫЕ ПОКАЗАТЕЛИ</a:t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Финмодель: подписка + внедрение + поддержка.</a:t>
            </a:r>
            <a:endParaRPr b="0" i="0" sz="2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r>
              <a:t>Рыночный ориентир по себестоимости операций: ~12,27 $/acre для фермы и ~7,39 $/acre для сервисного оператора.</a:t>
            </a:r>
          </a:p>
          <a:p>
            <a:r>
              <a:t>Задача SafeAgriRoute — не допускать потерь из-за срывов миссий и внештатных ситуаций поверх базовой себестоимости.</a:t>
            </a:r>
          </a:p>
          <a:p>
            <a:r>
              <a:t>Показательная цена ошибки: в реальном кейсе дрифт дал около 26 000 $ ущерба и 15 000 $ штрафа.</a:t>
            </a:r>
          </a:p>
          <a:p>
            <a:r>
              <a:t>Источник: University of Missouri Extension (G1274); кейс Country News (Victoria, 2024/2026).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/>
        </p:nvSpPr>
        <p:spPr>
          <a:xfrm>
            <a:off x="541350" y="1945025"/>
            <a:ext cx="10795500" cy="21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 sz="4000">
                <a:solidFill>
                  <a:srgbClr val="FD5427"/>
                </a:solidFill>
              </a:rPr>
              <a:t>РОСТ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0-6 мес.: завершение MVP hardening, расширение пилотных интеграций, стабилизация KPI.</a:t>
            </a:r>
            <a:endParaRPr b="0" i="0" sz="2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r>
              <a:t>6-12 мес.: коммерческие пилоты в регионах, стандартизация внедрения и обучения операторов.</a:t>
            </a:r>
          </a:p>
          <a:p>
            <a:r>
              <a:t>12-18 мес.: масштабирование, партнерская сеть, доработка enterprise-функций.</a:t>
            </a:r>
          </a:p>
          <a:p>
            <a:r>
              <a:t>Ключевые метрики роста: число хозяйств, площадь под управлением, доля миссий без ручного вмешательства.</a:t>
            </a:r>
          </a:p>
          <a:p>
            <a:r>
              <a:t>Источник: roadmap проекта SafeAgriRoute (внутренний план).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/>
        </p:nvSpPr>
        <p:spPr>
          <a:xfrm>
            <a:off x="575057" y="2085932"/>
            <a:ext cx="10869900" cy="20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62" name="Google Shape;16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 sz="4000">
                <a:solidFill>
                  <a:srgbClr val="FD5427"/>
                </a:solidFill>
              </a:rPr>
              <a:t>РИСКИ</a:t>
            </a:r>
            <a:endParaRPr/>
          </a:p>
        </p:txBody>
      </p:sp>
      <p:sp>
        <p:nvSpPr>
          <p:cNvPr id="163" name="Google Shape;16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Рыночные риски: медленная готовность клиентов к внедрению. Меры: пилоты с фиксацией эффекта в рублях.</a:t>
            </a:r>
            <a:endParaRPr/>
          </a:p>
          <a:p>
            <a:r>
              <a:t>Технические риски: GNSS-помехи и нестабильная связь. Меры: risk-aware маршрутизация, fallback-режимы, резервирование каналов.</a:t>
            </a:r>
          </a:p>
          <a:p>
            <a:r>
              <a:t>Регуляторные риски: региональные ограничения БПЛА. Меры: работа в рамках ЭПР и действующих регламентов.</a:t>
            </a:r>
          </a:p>
          <a:p>
            <a:r>
              <a:t>Цель управления рисками: сохранить сроки, бюджет и безопасность операций даже при внешних помехах.</a:t>
            </a:r>
          </a:p>
          <a:p>
            <a:r>
              <a:t>Источник: EASA/IATA GNSS plan (2025); Минэкономразвития РФ — ЭПР сельхоз-БАС.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/>
        </p:nvSpPr>
        <p:spPr>
          <a:xfrm>
            <a:off x="539720" y="2588966"/>
            <a:ext cx="11112600" cy="10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69" name="Google Shape;1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ru-RU" sz="4000">
                <a:solidFill>
                  <a:srgbClr val="FD5427"/>
                </a:solidFill>
              </a:rPr>
              <a:t>ИНВЕСТИЦИИ</a:t>
            </a:r>
            <a:endParaRPr/>
          </a:p>
        </p:txBody>
      </p:sp>
      <p:sp>
        <p:nvSpPr>
          <p:cNvPr id="170" name="Google Shape;170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Запрашиваем 10 млн руб. на 18 месяцев развития.</a:t>
            </a:r>
            <a:endParaRPr b="0" i="0" sz="2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r>
              <a:t>Куда пойдут средства: 4,5 млн — продукт и R&amp;D; 3,0 млн — пилоты и внедрение; 1,5 млн — продажи; 1,0 млн — операционные расходы.</a:t>
            </a:r>
          </a:p>
          <a:p>
            <a:r>
              <a:t>Цель: 25+ корпоративных клиентов и ARR выше 30 млн руб./год.</a:t>
            </a:r>
          </a:p>
          <a:p>
            <a:r>
              <a:t>В понятной форме: на каждый 1 млн инвестиций формируем основу для масштабируемого B2B-продукта.</a:t>
            </a:r>
          </a:p>
          <a:p>
            <a:r>
              <a:t>Источник: финансовая модель и целевые KPI команды SafeAgriRoute.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