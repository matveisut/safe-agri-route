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Mulish" panose="020B0604020202020204" charset="-52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hCa5ZYw6VaQt2xxky0d4Uuf1cR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Титульный слайд используется для первичного представления стартапа. На нем размещаются название проекта, логотип, слоган и краткое описание (в одно предложение), позволяющее сразу понять суть и направление проекта. При наличии может быть дополнительно указана ссылка на официальный сайт, онлайн-страницу продукта или сообщество проекта.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Что показывать: четко сформулируйте проблему вашей целевой аудитории. Не просто «неудобно», а конкретно: какие потери (время, деньги, детали, сырье, человеко-часы и пр.) они несут из-за этого. Обоснуйте, что проблема реальна и значима: приведите данные из маркетинговых исследований, открытой статистики, отраслевых отчетов. Покажите масштаб боли цифрами.</a:t>
            </a:r>
            <a:endParaRPr sz="900"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подробно раскройте предлагаемое вами решение выявленной проблемы. Краткое описание </a:t>
            </a:r>
            <a:r>
              <a:rPr lang="ru-RU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продукта (технологии или услуги)</a:t>
            </a:r>
            <a:r>
              <a:rPr lang="ru-RU"/>
              <a:t>, логика работы, его ключевые функции и принцип действия, за счет каких механизмов достигается устранение обозначенных потерь (“болей”) целевой аудитории.</a:t>
            </a:r>
            <a:endParaRPr/>
          </a:p>
        </p:txBody>
      </p:sp>
      <p:sp>
        <p:nvSpPr>
          <p:cNvPr id="96" name="Google Shape;9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чем ваш подход/продукт/технология принципиально лучше или отличается от существующих? Далее – доказательства, что ваша идея востребована. Представьте результаты первичного тестирования гипотез: например, выводы из 5-10 «глубинных» интервью с потенциальными клиентами и др.</a:t>
            </a:r>
            <a:endParaRPr/>
          </a:p>
        </p:txBody>
      </p:sp>
      <p:sp>
        <p:nvSpPr>
          <p:cNvPr id="103" name="Google Shape;10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</a:t>
            </a:r>
            <a:r>
              <a:rPr lang="ru-RU" sz="1150">
                <a:solidFill>
                  <a:schemeClr val="dk1"/>
                </a:solidFill>
              </a:rPr>
              <a:t>на этом слайде наглядно демонстрируется продукт и его реализация. В зависимости от типа продукта показываются профессиональные изображения, схемы или скриншоты ключевых экранов, отражающие основную функциональность и пользовательский опыт. Дополнительно указывается статус правовой защиты (при наличии). В том числе могут быть размещены QR-коды для доступа к прототипу, демо-версии, дополнительным материалам и т.д. с учетом особенностей вашего проекта. Цель слайда - визуально подтвердить работоспособность решения и его практическую применимость.</a:t>
            </a:r>
            <a:endParaRPr sz="115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0" name="Google Shape;11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фактические итоги тестового запуска, например, за 1, 2, 3 месяца (не планы!).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Количественные метрики: что измеряли (например: регистрации, конверсия в покупку, средний чек, удержание) и какие цифры получили.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Качественные выводы: главные инсайты из обратной связи (опросы, интервью). Соответствуют ли результаты вашим ожиданиям? Какие гипотезы подтвердились/опроверглись?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Кратко опишите, как вы собирали эти данные.</a:t>
            </a:r>
            <a:endParaRPr/>
          </a:p>
        </p:txBody>
      </p:sp>
      <p:sp>
        <p:nvSpPr>
          <p:cNvPr id="117" name="Google Shape;1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Бизнес-модель (как вы будете создавать ценность и зарабатывать). Что показывать: лучше всего – визуализированная схема. Обязательно раскройте: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Ценностное предложение: ваша ключевая выгода для клиента.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Потоки доходов: как именно будут поступать деньги (продажа подписки, транзакционная комиссия, лицензия и т.д.).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Ключевые ресурсы и деятельность: что и как вы делаете для создания ценности.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Каналы сбыта: как клиент о вас узнает и купит.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Структура издержек: основные статьи расходов.</a:t>
            </a:r>
            <a:endParaRPr/>
          </a:p>
        </p:txBody>
      </p:sp>
      <p:sp>
        <p:nvSpPr>
          <p:cNvPr id="124" name="Google Shape;12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определите ваш рынок (нишу) и покажите его потенциал.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Объем рынка (TAM/SAM/SOM): цифры в денежном выражении.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Тренды и драйверы роста: что заставляет рынок расти, какие темпы роста? Приведите данные аналитических изданий (с прогнозом на 3-5 лет).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Вывод: почему сейчас удачный момент для выхода?</a:t>
            </a:r>
            <a:endParaRPr/>
          </a:p>
        </p:txBody>
      </p:sp>
      <p:sp>
        <p:nvSpPr>
          <p:cNvPr id="131" name="Google Shape;13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таблица или матрица сравнения с 3-5 ключевыми конкурентами/альтернативами по важным для клиента критериям (цена, функционал, удобство, качество и т.д.).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Наглядно выделите ваши ключевые преимущества (уникальное торговое предложение).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Стратегия: как вы планируете отстроиться от конкурентов и защитить свои позиции?</a:t>
            </a:r>
            <a:endParaRPr/>
          </a:p>
        </p:txBody>
      </p:sp>
      <p:sp>
        <p:nvSpPr>
          <p:cNvPr id="138" name="Google Shape;13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выберите ключевые для вашего проекта метрики, которые покажут его финансовую логику. Это не бухгалтерский отчет, а выжимка.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Например: выручка на горизонте 1-3 лет (оптимистичный/пессимистичный сценарии), основные статьи расходов, расчет точки безубыточности.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Важные показатели на выбор: план продаж, маржинальность, юнит-экономика, потребность в оборотном капитале, ключевые финансовые коэффициенты, окупаемость, рентабельность и т.д.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Главное: показать логику расчета и реалистичность прогнозов.</a:t>
            </a:r>
            <a:endParaRPr/>
          </a:p>
        </p:txBody>
      </p:sp>
      <p:sp>
        <p:nvSpPr>
          <p:cNvPr id="145" name="Google Shape;1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Рост или дорожная карта (куда движемся дальше).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этот слайд про прошлое, настоящее и ближайшее будущее.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Ключевые точки: что уже прошли, где сейчас, что дальше? Цели на 6-12-18 месяцев: не абстрактные («стать лидером»), а измеримые (добиться X выручки, занять Y% ниши, выйти в регион Z, запустить новую фичу A).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Показатели роста: какие метрики вы будете отслеживать как индикаторы успеха.</a:t>
            </a:r>
            <a:endParaRPr/>
          </a:p>
        </p:txBody>
      </p:sp>
      <p:sp>
        <p:nvSpPr>
          <p:cNvPr id="152" name="Google Shape;1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</a:t>
            </a:r>
            <a:r>
              <a:rPr lang="ru-RU">
                <a:solidFill>
                  <a:schemeClr val="dk1"/>
                </a:solidFill>
              </a:rPr>
              <a:t>важно показать, что команда настроена серьезно и не только осведомлена о возможных рисках, но и знает, как справляться с вероятными проблемами.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Составьте таблицу или матрицу с ключевыми рисками (рыночные, операционные, финансовые, кадровые), оценкой их вероятности и влияния.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Для каждого значимого риска кратко укажите план по его смягчению (что будем делать, чтобы он не реализовался; или как минимизируем ущерб, если это случится). Покажите, что вы учитываете риски.</a:t>
            </a:r>
            <a:endParaRPr/>
          </a:p>
        </p:txBody>
      </p:sp>
      <p:sp>
        <p:nvSpPr>
          <p:cNvPr id="159" name="Google Shape;15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1150">
                <a:solidFill>
                  <a:schemeClr val="dk1"/>
                </a:solidFill>
              </a:rPr>
              <a:t>Что показываем: на данном слайде формируется запрос на привлечение ресурсов для развития стартапа в качестве логического продолжения представленной бизнес-модели и финансовых расчетов. Указываются необходимый объем финансирования, цели использования средств и ожидаемый эффект для проекта (например: вывод продукта на рынок, преодоление “долины смерти”, рост выручки в N раз). Запрос может предполагать различные формы привлечения ресурсов - инвестиции, внешнее финансирование или собственные средства команды. Также раскрывается предложение для партнеров или инвесторов: форма участия, продаваемая доля и обоснование оценки компании. Слайд фиксирует потребность стартапа в ресурсах для реализации и масштабирования проекта и демонстрирует понимание командой логики устойчивого роста.</a:t>
            </a:r>
            <a:endParaRPr/>
          </a:p>
        </p:txBody>
      </p:sp>
      <p:sp>
        <p:nvSpPr>
          <p:cNvPr id="166" name="Google Shape;16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Mulish"/>
                <a:ea typeface="Mulish"/>
                <a:cs typeface="Mulish"/>
                <a:sym typeface="Mulish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40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2200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516294" y="655832"/>
            <a:ext cx="8235820" cy="1014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 b="1" i="1">
                <a:solidFill>
                  <a:schemeClr val="lt1"/>
                </a:solidFill>
              </a:rPr>
              <a:t>ПРОЕКТ</a:t>
            </a:r>
            <a:endParaRPr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516294" y="359270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sz="1800"/>
              <a:t>Платформа безопасного планирования маршрутов агродронов</a:t>
            </a:r>
            <a:endParaRPr/>
          </a:p>
          <a:p>
            <a:r>
              <a:rPr sz="1800"/>
              <a:t>с учетом киберугроз и динамического перепланирования</a:t>
            </a:r>
          </a:p>
        </p:txBody>
      </p:sp>
      <p:sp>
        <p:nvSpPr>
          <p:cNvPr id="86" name="Google Shape;86;p1"/>
          <p:cNvSpPr txBox="1"/>
          <p:nvPr/>
        </p:nvSpPr>
        <p:spPr>
          <a:xfrm>
            <a:off x="516294" y="1691530"/>
            <a:ext cx="8235820" cy="1014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sz="1800"/>
              <a:t>SafeAgriRoute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/>
        </p:nvSpPr>
        <p:spPr>
          <a:xfrm>
            <a:off x="569351" y="2683279"/>
            <a:ext cx="10776674" cy="1491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92" name="Google Shape;92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b="1" i="1">
                <a:solidFill>
                  <a:srgbClr val="FD5427"/>
                </a:solidFill>
              </a:rPr>
              <a:t>ПРОБЛЕМА</a:t>
            </a:r>
            <a:endParaRPr/>
          </a:p>
        </p:txBody>
      </p:sp>
      <p:sp>
        <p:nvSpPr>
          <p:cNvPr id="93" name="Google Shape;93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Проблема: при помехах навигации дроны теряют маршрут, и обработка поля нарушается.</a:t>
            </a:r>
            <a:endParaRPr sz="2000" b="0" i="0" u="none" strike="noStrike" cap="none">
              <a:solidFill>
                <a:srgbClr val="000000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По данным EASA/IATA, число событий потери GPS-сигнала выросло на 220% в 2021-2024.</a:t>
            </a:r>
          </a:p>
          <a:p>
            <a:r>
              <a:t>В России тема прикладная: нацпроект БАС делает ставку на массовое внедрение дронов, а значит цена сбоев растет.</a:t>
            </a:r>
          </a:p>
          <a:p>
            <a:r>
              <a:t>Для агробизнеса это деньги: срывы окон обработки, лишние вылеты и простой техники.</a:t>
            </a:r>
          </a:p>
          <a:p>
            <a:r>
              <a:t>Источник: EASA/IATA (18.06.2025), Правительство РФ — нацпроект «Беспилотные авиационные системы».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"/>
          <p:cNvSpPr txBox="1"/>
          <p:nvPr/>
        </p:nvSpPr>
        <p:spPr>
          <a:xfrm>
            <a:off x="541359" y="2893948"/>
            <a:ext cx="11045700" cy="10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99" name="Google Shape;9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b="1" i="1">
                <a:solidFill>
                  <a:srgbClr val="FD5427"/>
                </a:solidFill>
              </a:rPr>
              <a:t>РЕШЕНИЕ</a:t>
            </a:r>
            <a:endParaRPr/>
          </a:p>
        </p:txBody>
      </p:sp>
      <p:sp>
        <p:nvSpPr>
          <p:cNvPr id="100" name="Google Shape;10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SafeAgriRoute объединяет планирование миссий, обработку телеметрии и модуль оценки угроз.</a:t>
            </a:r>
            <a:endParaRPr sz="2000" b="0" i="0" u="none" strike="noStrike" cap="none">
              <a:solidFill>
                <a:srgbClr val="000000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Алгоритм risk-aware маршрутизации избегает зоны повышенного риска и снижает вероятность срыва миссии.</a:t>
            </a:r>
          </a:p>
          <a:p>
            <a:r>
              <a:t>При изменении обстановки запускается автоматическое перепланирование маршрутов для группы БПЛА.</a:t>
            </a:r>
          </a:p>
          <a:p>
            <a:r>
              <a:t>Результат: более устойчивое выполнение задач при той же операционной команде.</a:t>
            </a:r>
          </a:p>
          <a:p>
            <a:r>
              <a:t>Источник: архитектура и реализация SafeAgriRoute (backend/frontend проекта).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/>
          <p:nvPr/>
        </p:nvSpPr>
        <p:spPr>
          <a:xfrm>
            <a:off x="541359" y="2893948"/>
            <a:ext cx="10035201" cy="107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06" name="Google Shape;10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b="1" i="1">
                <a:solidFill>
                  <a:srgbClr val="FD5427"/>
                </a:solidFill>
              </a:rPr>
              <a:t>УНИКАЛЬНОСТЬ</a:t>
            </a:r>
            <a:endParaRPr/>
          </a:p>
        </p:txBody>
      </p:sp>
      <p:sp>
        <p:nvSpPr>
          <p:cNvPr id="107" name="Google Shape;10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dirty="0" err="1"/>
              <a:t>Наша</a:t>
            </a:r>
            <a:r>
              <a:rPr dirty="0"/>
              <a:t> </a:t>
            </a:r>
            <a:r>
              <a:rPr dirty="0" err="1"/>
              <a:t>уникальность</a:t>
            </a:r>
            <a:r>
              <a:rPr dirty="0"/>
              <a:t>: </a:t>
            </a:r>
            <a:r>
              <a:rPr dirty="0" err="1"/>
              <a:t>киберугрозы</a:t>
            </a:r>
            <a:r>
              <a:rPr dirty="0"/>
              <a:t> </a:t>
            </a:r>
            <a:r>
              <a:rPr dirty="0" err="1"/>
              <a:t>учитываются</a:t>
            </a:r>
            <a:r>
              <a:rPr dirty="0"/>
              <a:t> </a:t>
            </a:r>
            <a:r>
              <a:rPr dirty="0" err="1"/>
              <a:t>сразу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построении</a:t>
            </a:r>
            <a:r>
              <a:rPr dirty="0"/>
              <a:t> </a:t>
            </a:r>
            <a:r>
              <a:rPr dirty="0" err="1"/>
              <a:t>маршрута</a:t>
            </a:r>
            <a:r>
              <a:rPr dirty="0"/>
              <a:t>.</a:t>
            </a:r>
            <a:endParaRPr sz="2000" b="0" i="0" u="none" strike="noStrike" cap="none" dirty="0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rPr dirty="0"/>
              <a:t>В </a:t>
            </a:r>
            <a:r>
              <a:rPr dirty="0" err="1"/>
              <a:t>тестах</a:t>
            </a:r>
            <a:r>
              <a:rPr dirty="0"/>
              <a:t> </a:t>
            </a:r>
            <a:r>
              <a:rPr dirty="0" err="1"/>
              <a:t>SafeAgriRoute</a:t>
            </a:r>
            <a:r>
              <a:rPr dirty="0"/>
              <a:t> </a:t>
            </a:r>
            <a:r>
              <a:rPr dirty="0" err="1"/>
              <a:t>покрытие</a:t>
            </a:r>
            <a:r>
              <a:rPr dirty="0"/>
              <a:t> в </a:t>
            </a:r>
            <a:r>
              <a:rPr dirty="0" err="1"/>
              <a:t>сложном</a:t>
            </a:r>
            <a:r>
              <a:rPr dirty="0"/>
              <a:t> </a:t>
            </a:r>
            <a:r>
              <a:rPr dirty="0" err="1"/>
              <a:t>сценарии</a:t>
            </a:r>
            <a:r>
              <a:rPr dirty="0"/>
              <a:t> </a:t>
            </a:r>
            <a:r>
              <a:rPr dirty="0" err="1"/>
              <a:t>выросло</a:t>
            </a:r>
            <a:r>
              <a:rPr dirty="0"/>
              <a:t> с 21,87% </a:t>
            </a:r>
            <a:r>
              <a:rPr dirty="0" err="1"/>
              <a:t>до</a:t>
            </a:r>
            <a:r>
              <a:rPr dirty="0"/>
              <a:t> 91,82%.</a:t>
            </a:r>
          </a:p>
          <a:p>
            <a:r>
              <a:rPr dirty="0" err="1"/>
              <a:t>Опасные</a:t>
            </a:r>
            <a:r>
              <a:rPr dirty="0"/>
              <a:t> </a:t>
            </a:r>
            <a:r>
              <a:rPr dirty="0" err="1"/>
              <a:t>пролеты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jammer-</a:t>
            </a:r>
            <a:r>
              <a:rPr dirty="0" err="1"/>
              <a:t>зоны</a:t>
            </a:r>
            <a:r>
              <a:rPr dirty="0"/>
              <a:t> </a:t>
            </a:r>
            <a:r>
              <a:rPr dirty="0" err="1"/>
              <a:t>снижены</a:t>
            </a:r>
            <a:r>
              <a:rPr dirty="0"/>
              <a:t> с 2 </a:t>
            </a:r>
            <a:r>
              <a:rPr dirty="0" err="1"/>
              <a:t>до</a:t>
            </a:r>
            <a:r>
              <a:rPr dirty="0"/>
              <a:t> 0.</a:t>
            </a:r>
          </a:p>
          <a:p>
            <a:r>
              <a:rPr dirty="0" err="1"/>
              <a:t>Практический</a:t>
            </a:r>
            <a:r>
              <a:rPr dirty="0"/>
              <a:t> </a:t>
            </a:r>
            <a:r>
              <a:rPr dirty="0" err="1"/>
              <a:t>эффект</a:t>
            </a:r>
            <a:r>
              <a:rPr dirty="0"/>
              <a:t>: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ручных</a:t>
            </a:r>
            <a:r>
              <a:rPr dirty="0"/>
              <a:t> </a:t>
            </a:r>
            <a:r>
              <a:rPr dirty="0" err="1"/>
              <a:t>корректировок</a:t>
            </a:r>
            <a:r>
              <a:rPr dirty="0"/>
              <a:t> и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внеплановых</a:t>
            </a:r>
            <a:r>
              <a:rPr dirty="0"/>
              <a:t> </a:t>
            </a:r>
            <a:r>
              <a:rPr dirty="0" err="1"/>
              <a:t>затрат</a:t>
            </a:r>
            <a:r>
              <a:rPr dirty="0"/>
              <a:t> в </a:t>
            </a:r>
            <a:r>
              <a:rPr dirty="0" err="1"/>
              <a:t>сезоне</a:t>
            </a:r>
            <a:r>
              <a:rPr dirty="0"/>
              <a:t>.</a:t>
            </a:r>
          </a:p>
          <a:p>
            <a:r>
              <a:rPr dirty="0" err="1"/>
              <a:t>Источник</a:t>
            </a:r>
            <a:r>
              <a:rPr dirty="0"/>
              <a:t>: </a:t>
            </a:r>
            <a:r>
              <a:rPr lang="ru-RU" dirty="0"/>
              <a:t>тесты из нашего репозитория</a:t>
            </a:r>
            <a:r>
              <a:rPr lang="en-US" dirty="0"/>
              <a:t>: github.com/matveisut/safe-agri-route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"/>
          <p:cNvSpPr txBox="1"/>
          <p:nvPr/>
        </p:nvSpPr>
        <p:spPr>
          <a:xfrm>
            <a:off x="550083" y="2005046"/>
            <a:ext cx="11091900" cy="10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13" name="Google Shape;113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ОПИСАНИЕ ПРОДУКТА</a:t>
            </a:r>
            <a:endParaRPr sz="4000"/>
          </a:p>
        </p:txBody>
      </p:sp>
      <p:sp>
        <p:nvSpPr>
          <p:cNvPr id="114" name="Google Shape;114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Продукт: веб-панель диспетчера миссий + backend планировщика + телеметрический контур.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Основные функции: создание миссии, визуализация risk-map, мониторинг состояния дронов, автоматическое перепланирование.</a:t>
            </a:r>
          </a:p>
          <a:p>
            <a:r>
              <a:t>Технологическая база: FastAPI, WebSocket-телеметрия, OR-Tools, PostGIS, MAVLink-интеграция.</a:t>
            </a:r>
          </a:p>
          <a:p>
            <a:r>
              <a:t>Для заявки: добавить скриншоты интерфейса и QR-ссылку на демо.</a:t>
            </a:r>
          </a:p>
          <a:p>
            <a:r>
              <a:t>Источник: репозиторий SafeAgriRoute (backend/, frontend/).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"/>
          <p:cNvSpPr txBox="1"/>
          <p:nvPr/>
        </p:nvSpPr>
        <p:spPr>
          <a:xfrm>
            <a:off x="568499" y="1545950"/>
            <a:ext cx="11055000" cy="10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20" name="Google Shape;12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РЕЗУЛЬТАТЫ ТЕСТИРОВАНИЯ</a:t>
            </a:r>
            <a:endParaRPr sz="4000"/>
          </a:p>
        </p:txBody>
      </p:sp>
      <p:sp>
        <p:nvSpPr>
          <p:cNvPr id="121" name="Google Shape;121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dirty="0" err="1"/>
              <a:t>Мы</a:t>
            </a:r>
            <a:r>
              <a:rPr dirty="0"/>
              <a:t> </a:t>
            </a:r>
            <a:r>
              <a:rPr dirty="0" err="1"/>
              <a:t>проверили</a:t>
            </a:r>
            <a:r>
              <a:rPr dirty="0"/>
              <a:t> </a:t>
            </a:r>
            <a:r>
              <a:rPr dirty="0" err="1"/>
              <a:t>решение</a:t>
            </a:r>
            <a:r>
              <a:rPr dirty="0"/>
              <a:t> в </a:t>
            </a:r>
            <a:r>
              <a:rPr dirty="0" err="1"/>
              <a:t>трех</a:t>
            </a:r>
            <a:r>
              <a:rPr dirty="0"/>
              <a:t> </a:t>
            </a:r>
            <a:r>
              <a:rPr dirty="0" err="1"/>
              <a:t>сценариях</a:t>
            </a:r>
            <a:r>
              <a:rPr dirty="0"/>
              <a:t>: </a:t>
            </a:r>
            <a:r>
              <a:rPr dirty="0" err="1"/>
              <a:t>штатный</a:t>
            </a:r>
            <a:r>
              <a:rPr dirty="0"/>
              <a:t>, </a:t>
            </a:r>
            <a:r>
              <a:rPr dirty="0" err="1"/>
              <a:t>помехи</a:t>
            </a:r>
            <a:r>
              <a:rPr dirty="0"/>
              <a:t>, </a:t>
            </a:r>
            <a:r>
              <a:rPr dirty="0" err="1"/>
              <a:t>динамическая</a:t>
            </a:r>
            <a:r>
              <a:rPr dirty="0"/>
              <a:t> </a:t>
            </a:r>
            <a:r>
              <a:rPr dirty="0" err="1"/>
              <a:t>обстановка</a:t>
            </a:r>
            <a:r>
              <a:rPr dirty="0"/>
              <a:t>.</a:t>
            </a:r>
            <a:endParaRPr sz="2000" b="0" i="0" u="none" strike="noStrike" cap="none" dirty="0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помехах</a:t>
            </a:r>
            <a:r>
              <a:rPr dirty="0"/>
              <a:t>: </a:t>
            </a:r>
            <a:r>
              <a:rPr dirty="0" err="1"/>
              <a:t>покрытие</a:t>
            </a:r>
            <a:r>
              <a:rPr dirty="0"/>
              <a:t> </a:t>
            </a:r>
            <a:r>
              <a:rPr dirty="0" err="1"/>
              <a:t>выросло</a:t>
            </a:r>
            <a:r>
              <a:rPr dirty="0"/>
              <a:t> с 21,87% </a:t>
            </a:r>
            <a:r>
              <a:rPr dirty="0" err="1"/>
              <a:t>до</a:t>
            </a:r>
            <a:r>
              <a:rPr dirty="0"/>
              <a:t> 91,82%, </a:t>
            </a:r>
            <a:r>
              <a:rPr dirty="0" err="1"/>
              <a:t>опасные</a:t>
            </a:r>
            <a:r>
              <a:rPr dirty="0"/>
              <a:t> </a:t>
            </a:r>
            <a:r>
              <a:rPr dirty="0" err="1"/>
              <a:t>пересечения</a:t>
            </a:r>
            <a:r>
              <a:rPr dirty="0"/>
              <a:t> </a:t>
            </a:r>
            <a:r>
              <a:rPr dirty="0" err="1"/>
              <a:t>снижены</a:t>
            </a:r>
            <a:r>
              <a:rPr dirty="0"/>
              <a:t> с 2 </a:t>
            </a:r>
            <a:r>
              <a:rPr dirty="0" err="1"/>
              <a:t>до</a:t>
            </a:r>
            <a:r>
              <a:rPr dirty="0"/>
              <a:t> 0.</a:t>
            </a:r>
          </a:p>
          <a:p>
            <a:r>
              <a:rPr dirty="0"/>
              <a:t>В </a:t>
            </a:r>
            <a:r>
              <a:rPr dirty="0" err="1"/>
              <a:t>динамическом</a:t>
            </a:r>
            <a:r>
              <a:rPr dirty="0"/>
              <a:t> </a:t>
            </a:r>
            <a:r>
              <a:rPr dirty="0" err="1"/>
              <a:t>сценарии</a:t>
            </a:r>
            <a:r>
              <a:rPr dirty="0"/>
              <a:t> </a:t>
            </a:r>
            <a:r>
              <a:rPr dirty="0" err="1"/>
              <a:t>миссия</a:t>
            </a:r>
            <a:r>
              <a:rPr dirty="0"/>
              <a:t> </a:t>
            </a:r>
            <a:r>
              <a:rPr dirty="0" err="1"/>
              <a:t>достигла</a:t>
            </a:r>
            <a:r>
              <a:rPr dirty="0"/>
              <a:t> 100% </a:t>
            </a:r>
            <a:r>
              <a:rPr dirty="0" err="1"/>
              <a:t>покрытия</a:t>
            </a:r>
            <a:r>
              <a:rPr dirty="0"/>
              <a:t> к </a:t>
            </a:r>
            <a:r>
              <a:rPr dirty="0" err="1"/>
              <a:t>финалу</a:t>
            </a:r>
            <a:r>
              <a:rPr dirty="0"/>
              <a:t>.</a:t>
            </a:r>
          </a:p>
          <a:p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означает</a:t>
            </a:r>
            <a:r>
              <a:rPr dirty="0"/>
              <a:t> </a:t>
            </a:r>
            <a:r>
              <a:rPr dirty="0" err="1"/>
              <a:t>более</a:t>
            </a:r>
            <a:r>
              <a:rPr dirty="0"/>
              <a:t> </a:t>
            </a:r>
            <a:r>
              <a:rPr dirty="0" err="1"/>
              <a:t>предсказуемое</a:t>
            </a:r>
            <a:r>
              <a:rPr dirty="0"/>
              <a:t> </a:t>
            </a:r>
            <a:r>
              <a:rPr dirty="0" err="1"/>
              <a:t>выполнение</a:t>
            </a:r>
            <a:r>
              <a:rPr dirty="0"/>
              <a:t> </a:t>
            </a:r>
            <a:r>
              <a:rPr dirty="0" err="1"/>
              <a:t>работ</a:t>
            </a:r>
            <a:r>
              <a:rPr dirty="0"/>
              <a:t> и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переделок</a:t>
            </a:r>
            <a:r>
              <a:rPr dirty="0"/>
              <a:t>.</a:t>
            </a:r>
          </a:p>
          <a:p>
            <a:r>
              <a:rPr dirty="0" err="1"/>
              <a:t>Источник</a:t>
            </a:r>
            <a:r>
              <a:rPr dirty="0"/>
              <a:t>: backend/simulation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/>
          <p:nvPr/>
        </p:nvSpPr>
        <p:spPr>
          <a:xfrm>
            <a:off x="619899" y="2197198"/>
            <a:ext cx="10814100" cy="17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27" name="Google Shape;127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БИЗНЕС-МОДЕЛЬ</a:t>
            </a:r>
            <a:endParaRPr/>
          </a:p>
        </p:txBody>
      </p:sp>
      <p:sp>
        <p:nvSpPr>
          <p:cNvPr id="128" name="Google Shape;128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Модель: B2B SaaS для агропредприятий с парком 3-20 БПЛА + услуги внедрения.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Ценность: снижение срывов миссий, уменьшение простоев и рост управляемости флота дронов.</a:t>
            </a:r>
          </a:p>
          <a:p>
            <a:r>
              <a:t>Доход: подписка (месяц/год), расширенные модули аналитики, интеграции и сопровождение.</a:t>
            </a:r>
          </a:p>
          <a:p>
            <a:r>
              <a:t>Каналы: пилоты с хозяйствами, партнеры-интеграторы, отраслевые агро- и ИБ-мероприятия.</a:t>
            </a:r>
          </a:p>
          <a:p>
            <a:r>
              <a:t>Источник: бизнес-гипотезы проекта SafeAgriRoute (diploma_main.md).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"/>
          <p:cNvSpPr txBox="1"/>
          <p:nvPr/>
        </p:nvSpPr>
        <p:spPr>
          <a:xfrm>
            <a:off x="541356" y="2737660"/>
            <a:ext cx="10804667" cy="138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АНАЛИЗ РЫНКА</a:t>
            </a:r>
            <a:endParaRPr/>
          </a:p>
        </p:txBody>
      </p:sp>
      <p:sp>
        <p:nvSpPr>
          <p:cNvPr id="135" name="Google Shape;135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Целевой рынок — цифровое земледелие и управление агродронами в РФ и СНГ.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Глобальный ориентир: 2,63 млрд $ (2025) -&gt; 10,76 млрд $ (2030), рост более чем в 4 раза.</a:t>
            </a:r>
          </a:p>
          <a:p>
            <a:r>
              <a:t>Российский контекст: к 2030 доля отечественных БАС в рынке — 70,3%, техн. независимость — 81,1%.</a:t>
            </a:r>
          </a:p>
          <a:p>
            <a:r>
              <a:t>Вывод для клиента: надежность навигации — обязательный элемент экономики полевых работ.</a:t>
            </a:r>
          </a:p>
          <a:p>
            <a:r>
              <a:t>Источник: MarketsandMarkets; Правительство РФ — нацпроект БАС / Стратегия развития БАС.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"/>
          <p:cNvSpPr txBox="1"/>
          <p:nvPr/>
        </p:nvSpPr>
        <p:spPr>
          <a:xfrm>
            <a:off x="541357" y="2605136"/>
            <a:ext cx="10963288" cy="1647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41" name="Google Shape;14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АНАЛИЗ КОНКУРЕНТОВ</a:t>
            </a:r>
            <a:endParaRPr/>
          </a:p>
        </p:txBody>
      </p:sp>
      <p:sp>
        <p:nvSpPr>
          <p:cNvPr id="142" name="Google Shape;14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Основные альтернативы: DJI FlightHub 2, DroneDeploy, Pix4Dfields.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Их фокус: управление/картография/аналитика, но без полноценного risk-aware маршрута под киберугрозы.</a:t>
            </a:r>
          </a:p>
          <a:p>
            <a:r>
              <a:t>Почему задача реальная: NTSB зафиксировал агро-инцидент с GPS-флуктуациями и травмой (CEN24LA380).</a:t>
            </a:r>
          </a:p>
          <a:p>
            <a:r>
              <a:t>Для России дополнительно важно: ЭПР по сельхоздронам запущен в 12 регионах — спрос на безопасную эксплуатацию уже практический.</a:t>
            </a:r>
          </a:p>
          <a:p>
            <a:r>
              <a:t>Источник: NTSB CEN24LA380; Минэкономразвития РФ (ЭПР сельхоз-БАС, 12 регионов).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"/>
          <p:cNvSpPr txBox="1"/>
          <p:nvPr/>
        </p:nvSpPr>
        <p:spPr>
          <a:xfrm>
            <a:off x="544382" y="2200736"/>
            <a:ext cx="11103300" cy="16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48" name="Google Shape;148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ФИНАНСОВЫЕ ПОКАЗАТЕЛИ</a:t>
            </a:r>
            <a:endParaRPr/>
          </a:p>
        </p:txBody>
      </p:sp>
      <p:sp>
        <p:nvSpPr>
          <p:cNvPr id="149" name="Google Shape;149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dirty="0" err="1"/>
              <a:t>Финмодель</a:t>
            </a:r>
            <a:r>
              <a:rPr dirty="0"/>
              <a:t>: </a:t>
            </a:r>
            <a:r>
              <a:rPr dirty="0" err="1"/>
              <a:t>подписка</a:t>
            </a:r>
            <a:r>
              <a:rPr dirty="0"/>
              <a:t> + </a:t>
            </a:r>
            <a:r>
              <a:rPr dirty="0" err="1"/>
              <a:t>внедрение</a:t>
            </a:r>
            <a:r>
              <a:rPr dirty="0"/>
              <a:t> + </a:t>
            </a:r>
            <a:r>
              <a:rPr dirty="0" err="1"/>
              <a:t>поддержка</a:t>
            </a:r>
            <a:r>
              <a:rPr dirty="0"/>
              <a:t>.</a:t>
            </a:r>
            <a:endParaRPr sz="2000" b="0" i="0" u="none" strike="noStrike" cap="none" dirty="0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rPr lang="ru-RU" dirty="0"/>
              <a:t>Рыночный ориентир по себестоимости операций: ~$30,31/га для фермы и ~$18,25/га для сервисного оператора. </a:t>
            </a:r>
            <a:endParaRPr lang="en-US" dirty="0"/>
          </a:p>
          <a:p>
            <a:r>
              <a:rPr dirty="0" err="1"/>
              <a:t>Задача</a:t>
            </a:r>
            <a:r>
              <a:rPr dirty="0"/>
              <a:t> </a:t>
            </a:r>
            <a:r>
              <a:rPr dirty="0" err="1"/>
              <a:t>SafeAgriRoute</a:t>
            </a:r>
            <a:r>
              <a:rPr dirty="0"/>
              <a:t> —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допускать</a:t>
            </a:r>
            <a:r>
              <a:rPr dirty="0"/>
              <a:t> </a:t>
            </a:r>
            <a:r>
              <a:rPr dirty="0" err="1"/>
              <a:t>потерь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-за </a:t>
            </a:r>
            <a:r>
              <a:rPr dirty="0" err="1"/>
              <a:t>срывов</a:t>
            </a:r>
            <a:r>
              <a:rPr dirty="0"/>
              <a:t> </a:t>
            </a:r>
            <a:r>
              <a:rPr dirty="0" err="1"/>
              <a:t>миссий</a:t>
            </a:r>
            <a:r>
              <a:rPr dirty="0"/>
              <a:t> и </a:t>
            </a:r>
            <a:r>
              <a:rPr dirty="0" err="1"/>
              <a:t>внештатных</a:t>
            </a:r>
            <a:r>
              <a:rPr dirty="0"/>
              <a:t> </a:t>
            </a:r>
            <a:r>
              <a:rPr dirty="0" err="1"/>
              <a:t>ситуаций</a:t>
            </a:r>
            <a:r>
              <a:rPr dirty="0"/>
              <a:t> </a:t>
            </a:r>
            <a:r>
              <a:rPr dirty="0" err="1"/>
              <a:t>поверх</a:t>
            </a:r>
            <a:r>
              <a:rPr dirty="0"/>
              <a:t> </a:t>
            </a:r>
            <a:r>
              <a:rPr dirty="0" err="1"/>
              <a:t>базовой</a:t>
            </a:r>
            <a:r>
              <a:rPr dirty="0"/>
              <a:t> </a:t>
            </a:r>
            <a:r>
              <a:rPr dirty="0" err="1"/>
              <a:t>себестоимости</a:t>
            </a:r>
            <a:r>
              <a:rPr dirty="0"/>
              <a:t>.</a:t>
            </a:r>
          </a:p>
          <a:p>
            <a:r>
              <a:rPr dirty="0" err="1"/>
              <a:t>Показательная</a:t>
            </a:r>
            <a:r>
              <a:rPr dirty="0"/>
              <a:t> </a:t>
            </a:r>
            <a:r>
              <a:rPr dirty="0" err="1"/>
              <a:t>цена</a:t>
            </a:r>
            <a:r>
              <a:rPr dirty="0"/>
              <a:t> </a:t>
            </a:r>
            <a:r>
              <a:rPr dirty="0" err="1"/>
              <a:t>ошибки</a:t>
            </a:r>
            <a:r>
              <a:rPr dirty="0"/>
              <a:t>: в </a:t>
            </a:r>
            <a:r>
              <a:rPr dirty="0" err="1"/>
              <a:t>реальном</a:t>
            </a:r>
            <a:r>
              <a:rPr dirty="0"/>
              <a:t> </a:t>
            </a:r>
            <a:r>
              <a:rPr dirty="0" err="1"/>
              <a:t>кейсе</a:t>
            </a:r>
            <a:r>
              <a:rPr dirty="0"/>
              <a:t> </a:t>
            </a:r>
            <a:r>
              <a:rPr dirty="0" err="1"/>
              <a:t>дрифт</a:t>
            </a:r>
            <a:r>
              <a:rPr dirty="0"/>
              <a:t> </a:t>
            </a:r>
            <a:r>
              <a:rPr dirty="0" err="1"/>
              <a:t>дал</a:t>
            </a:r>
            <a:r>
              <a:rPr dirty="0"/>
              <a:t> </a:t>
            </a:r>
            <a:r>
              <a:rPr dirty="0" err="1"/>
              <a:t>около</a:t>
            </a:r>
            <a:r>
              <a:rPr dirty="0"/>
              <a:t> 26 000 $ </a:t>
            </a:r>
            <a:r>
              <a:rPr dirty="0" err="1"/>
              <a:t>ущерба</a:t>
            </a:r>
            <a:r>
              <a:rPr dirty="0"/>
              <a:t> и 15 000 $ </a:t>
            </a:r>
            <a:r>
              <a:rPr dirty="0" err="1"/>
              <a:t>штрафа</a:t>
            </a:r>
            <a:r>
              <a:rPr dirty="0"/>
              <a:t>.</a:t>
            </a:r>
          </a:p>
          <a:p>
            <a:r>
              <a:rPr dirty="0" err="1"/>
              <a:t>Источник</a:t>
            </a:r>
            <a:r>
              <a:rPr dirty="0"/>
              <a:t>: University of Missouri Extension (G1274); </a:t>
            </a:r>
            <a:r>
              <a:rPr dirty="0" err="1"/>
              <a:t>кейс</a:t>
            </a:r>
            <a:r>
              <a:rPr dirty="0"/>
              <a:t> Country News (Victoria, 2024/2026).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"/>
          <p:cNvSpPr txBox="1"/>
          <p:nvPr/>
        </p:nvSpPr>
        <p:spPr>
          <a:xfrm>
            <a:off x="541350" y="1945025"/>
            <a:ext cx="10795500" cy="21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РОСТ</a:t>
            </a:r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dirty="0"/>
              <a:t>0-6 </a:t>
            </a:r>
            <a:r>
              <a:rPr dirty="0" err="1"/>
              <a:t>мес</a:t>
            </a:r>
            <a:r>
              <a:rPr dirty="0"/>
              <a:t>.: </a:t>
            </a:r>
            <a:r>
              <a:rPr dirty="0" err="1"/>
              <a:t>завершение</a:t>
            </a:r>
            <a:r>
              <a:rPr dirty="0"/>
              <a:t> MVP hardening, </a:t>
            </a:r>
            <a:r>
              <a:rPr dirty="0" err="1"/>
              <a:t>расширение</a:t>
            </a:r>
            <a:r>
              <a:rPr dirty="0"/>
              <a:t> </a:t>
            </a:r>
            <a:r>
              <a:rPr dirty="0" err="1"/>
              <a:t>пилотных</a:t>
            </a:r>
            <a:r>
              <a:rPr dirty="0"/>
              <a:t> </a:t>
            </a:r>
            <a:r>
              <a:rPr dirty="0" err="1"/>
              <a:t>интеграций</a:t>
            </a:r>
            <a:r>
              <a:rPr dirty="0"/>
              <a:t>, </a:t>
            </a:r>
            <a:r>
              <a:rPr dirty="0" err="1"/>
              <a:t>стабилизация</a:t>
            </a:r>
            <a:r>
              <a:rPr dirty="0"/>
              <a:t> KPI.</a:t>
            </a:r>
            <a:endParaRPr sz="2000" b="0" i="0" u="none" strike="noStrike" cap="none" dirty="0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rPr dirty="0"/>
              <a:t>6-12 </a:t>
            </a:r>
            <a:r>
              <a:rPr dirty="0" err="1"/>
              <a:t>мес</a:t>
            </a:r>
            <a:r>
              <a:rPr dirty="0"/>
              <a:t>.: </a:t>
            </a:r>
            <a:r>
              <a:rPr dirty="0" err="1"/>
              <a:t>коммерческие</a:t>
            </a:r>
            <a:r>
              <a:rPr dirty="0"/>
              <a:t> </a:t>
            </a:r>
            <a:r>
              <a:rPr dirty="0" err="1"/>
              <a:t>пилоты</a:t>
            </a:r>
            <a:r>
              <a:rPr dirty="0"/>
              <a:t> в </a:t>
            </a:r>
            <a:r>
              <a:rPr dirty="0" err="1"/>
              <a:t>регионах</a:t>
            </a:r>
            <a:r>
              <a:rPr dirty="0"/>
              <a:t>, </a:t>
            </a:r>
            <a:r>
              <a:rPr dirty="0" err="1"/>
              <a:t>стандартизация</a:t>
            </a:r>
            <a:r>
              <a:rPr dirty="0"/>
              <a:t> </a:t>
            </a:r>
            <a:r>
              <a:rPr dirty="0" err="1"/>
              <a:t>внедрения</a:t>
            </a:r>
            <a:r>
              <a:rPr dirty="0"/>
              <a:t> и </a:t>
            </a:r>
            <a:r>
              <a:rPr dirty="0" err="1"/>
              <a:t>обучения</a:t>
            </a:r>
            <a:r>
              <a:rPr dirty="0"/>
              <a:t> </a:t>
            </a:r>
            <a:r>
              <a:rPr dirty="0" err="1"/>
              <a:t>операторов</a:t>
            </a:r>
            <a:r>
              <a:rPr dirty="0"/>
              <a:t>.</a:t>
            </a:r>
          </a:p>
          <a:p>
            <a:r>
              <a:rPr dirty="0"/>
              <a:t>12-18 </a:t>
            </a:r>
            <a:r>
              <a:rPr dirty="0" err="1"/>
              <a:t>мес</a:t>
            </a:r>
            <a:r>
              <a:rPr dirty="0"/>
              <a:t>.: </a:t>
            </a:r>
            <a:r>
              <a:rPr dirty="0" err="1"/>
              <a:t>масштабирование</a:t>
            </a:r>
            <a:r>
              <a:rPr dirty="0"/>
              <a:t>, </a:t>
            </a:r>
            <a:r>
              <a:rPr dirty="0" err="1"/>
              <a:t>партнерская</a:t>
            </a:r>
            <a:r>
              <a:rPr dirty="0"/>
              <a:t> </a:t>
            </a:r>
            <a:r>
              <a:rPr dirty="0" err="1"/>
              <a:t>сеть</a:t>
            </a:r>
            <a:r>
              <a:rPr dirty="0"/>
              <a:t>, </a:t>
            </a:r>
            <a:r>
              <a:rPr dirty="0" err="1"/>
              <a:t>доработка</a:t>
            </a:r>
            <a:r>
              <a:rPr dirty="0"/>
              <a:t> enterprise-</a:t>
            </a:r>
            <a:r>
              <a:rPr dirty="0" err="1"/>
              <a:t>функций</a:t>
            </a:r>
            <a:r>
              <a:rPr dirty="0"/>
              <a:t>.</a:t>
            </a:r>
          </a:p>
          <a:p>
            <a:r>
              <a:rPr dirty="0" err="1"/>
              <a:t>Ключевые</a:t>
            </a:r>
            <a:r>
              <a:rPr dirty="0"/>
              <a:t> </a:t>
            </a:r>
            <a:r>
              <a:rPr dirty="0" err="1"/>
              <a:t>метрики</a:t>
            </a:r>
            <a:r>
              <a:rPr dirty="0"/>
              <a:t> </a:t>
            </a:r>
            <a:r>
              <a:rPr dirty="0" err="1"/>
              <a:t>роста</a:t>
            </a:r>
            <a:r>
              <a:rPr dirty="0"/>
              <a:t>: </a:t>
            </a:r>
            <a:r>
              <a:rPr dirty="0" err="1"/>
              <a:t>число</a:t>
            </a:r>
            <a:r>
              <a:rPr dirty="0"/>
              <a:t> </a:t>
            </a:r>
            <a:r>
              <a:rPr dirty="0" err="1"/>
              <a:t>хозяйств</a:t>
            </a:r>
            <a:r>
              <a:rPr dirty="0"/>
              <a:t>, </a:t>
            </a:r>
            <a:r>
              <a:rPr dirty="0" err="1"/>
              <a:t>площадь</a:t>
            </a:r>
            <a:r>
              <a:rPr dirty="0"/>
              <a:t> </a:t>
            </a:r>
            <a:r>
              <a:rPr dirty="0" err="1"/>
              <a:t>под</a:t>
            </a:r>
            <a:r>
              <a:rPr dirty="0"/>
              <a:t> </a:t>
            </a:r>
            <a:r>
              <a:rPr dirty="0" err="1"/>
              <a:t>управлением</a:t>
            </a:r>
            <a:r>
              <a:rPr dirty="0"/>
              <a:t>, </a:t>
            </a:r>
            <a:r>
              <a:rPr dirty="0" err="1"/>
              <a:t>доля</a:t>
            </a:r>
            <a:r>
              <a:rPr dirty="0"/>
              <a:t> </a:t>
            </a:r>
            <a:r>
              <a:rPr dirty="0" err="1"/>
              <a:t>миссий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ручного</a:t>
            </a:r>
            <a:r>
              <a:rPr dirty="0"/>
              <a:t> </a:t>
            </a:r>
            <a:r>
              <a:rPr dirty="0" err="1"/>
              <a:t>вмешательства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2"/>
          <p:cNvSpPr txBox="1"/>
          <p:nvPr/>
        </p:nvSpPr>
        <p:spPr>
          <a:xfrm>
            <a:off x="575057" y="2085932"/>
            <a:ext cx="10869900" cy="20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Mulish"/>
              <a:ea typeface="Mulish"/>
              <a:cs typeface="Mulish"/>
              <a:sym typeface="Mulish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rgbClr val="000000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62" name="Google Shape;162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РИСКИ</a:t>
            </a:r>
            <a:endParaRPr/>
          </a:p>
        </p:txBody>
      </p:sp>
      <p:sp>
        <p:nvSpPr>
          <p:cNvPr id="163" name="Google Shape;163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Рыночные риски: медленная готовность клиентов к внедрению. Меры: пилоты с фиксацией эффекта в рублях.</a:t>
            </a:r>
          </a:p>
          <a:p>
            <a:r>
              <a:t>Технические риски: GNSS-помехи и нестабильная связь. Меры: risk-aware маршрутизация, fallback-режимы, резервирование каналов.</a:t>
            </a:r>
          </a:p>
          <a:p>
            <a:r>
              <a:t>Регуляторные риски: региональные ограничения БПЛА. Меры: работа в рамках ЭПР и действующих регламентов.</a:t>
            </a:r>
          </a:p>
          <a:p>
            <a:r>
              <a:t>Цель управления рисками: сохранить сроки, бюджет и безопасность операций даже при внешних помехах.</a:t>
            </a:r>
          </a:p>
          <a:p>
            <a:r>
              <a:t>Источник: EASA/IATA GNSS plan (2025); Минэкономразвития РФ — ЭПР сельхоз-БАС.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"/>
          <p:cNvSpPr txBox="1"/>
          <p:nvPr/>
        </p:nvSpPr>
        <p:spPr>
          <a:xfrm>
            <a:off x="539720" y="2588966"/>
            <a:ext cx="11112600" cy="10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69" name="Google Shape;16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ИНВЕСТИЦИИ</a:t>
            </a:r>
            <a:endParaRPr/>
          </a:p>
        </p:txBody>
      </p:sp>
      <p:sp>
        <p:nvSpPr>
          <p:cNvPr id="170" name="Google Shape;170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dirty="0" err="1"/>
              <a:t>Запрашиваем</a:t>
            </a:r>
            <a:r>
              <a:rPr dirty="0"/>
              <a:t> 10 </a:t>
            </a:r>
            <a:r>
              <a:rPr dirty="0" err="1"/>
              <a:t>млн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 </a:t>
            </a:r>
            <a:r>
              <a:rPr dirty="0" err="1"/>
              <a:t>на</a:t>
            </a:r>
            <a:r>
              <a:rPr dirty="0"/>
              <a:t> 18 </a:t>
            </a:r>
            <a:r>
              <a:rPr dirty="0" err="1"/>
              <a:t>месяцев</a:t>
            </a:r>
            <a:r>
              <a:rPr dirty="0"/>
              <a:t> </a:t>
            </a:r>
            <a:r>
              <a:rPr dirty="0" err="1"/>
              <a:t>развития</a:t>
            </a:r>
            <a:r>
              <a:rPr dirty="0"/>
              <a:t>.</a:t>
            </a:r>
            <a:endParaRPr sz="2000" b="0" i="0" u="none" strike="noStrike" cap="none" dirty="0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rPr dirty="0" err="1"/>
              <a:t>Куда</a:t>
            </a:r>
            <a:r>
              <a:rPr dirty="0"/>
              <a:t> </a:t>
            </a:r>
            <a:r>
              <a:rPr dirty="0" err="1"/>
              <a:t>пойдут</a:t>
            </a:r>
            <a:r>
              <a:rPr dirty="0"/>
              <a:t> </a:t>
            </a:r>
            <a:r>
              <a:rPr dirty="0" err="1"/>
              <a:t>средства</a:t>
            </a:r>
            <a:r>
              <a:rPr dirty="0"/>
              <a:t>: 4,5 </a:t>
            </a:r>
            <a:r>
              <a:rPr dirty="0" err="1"/>
              <a:t>млн</a:t>
            </a:r>
            <a:r>
              <a:rPr dirty="0"/>
              <a:t> — </a:t>
            </a:r>
            <a:r>
              <a:rPr dirty="0" err="1"/>
              <a:t>продукт</a:t>
            </a:r>
            <a:r>
              <a:rPr dirty="0"/>
              <a:t> и R&amp;D; 3,0 </a:t>
            </a:r>
            <a:r>
              <a:rPr dirty="0" err="1"/>
              <a:t>млн</a:t>
            </a:r>
            <a:r>
              <a:rPr dirty="0"/>
              <a:t> — </a:t>
            </a:r>
            <a:r>
              <a:rPr dirty="0" err="1"/>
              <a:t>пилоты</a:t>
            </a:r>
            <a:r>
              <a:rPr dirty="0"/>
              <a:t> и </a:t>
            </a:r>
            <a:r>
              <a:rPr dirty="0" err="1"/>
              <a:t>внедрение</a:t>
            </a:r>
            <a:r>
              <a:rPr dirty="0"/>
              <a:t>; 1,5 </a:t>
            </a:r>
            <a:r>
              <a:rPr dirty="0" err="1"/>
              <a:t>млн</a:t>
            </a:r>
            <a:r>
              <a:rPr dirty="0"/>
              <a:t> — </a:t>
            </a:r>
            <a:r>
              <a:rPr dirty="0" err="1"/>
              <a:t>продажи</a:t>
            </a:r>
            <a:r>
              <a:rPr dirty="0"/>
              <a:t>; 1,0 </a:t>
            </a:r>
            <a:r>
              <a:rPr dirty="0" err="1"/>
              <a:t>млн</a:t>
            </a:r>
            <a:r>
              <a:rPr dirty="0"/>
              <a:t> — </a:t>
            </a:r>
            <a:r>
              <a:rPr dirty="0" err="1"/>
              <a:t>операционные</a:t>
            </a:r>
            <a:r>
              <a:rPr dirty="0"/>
              <a:t> </a:t>
            </a:r>
            <a:r>
              <a:rPr dirty="0" err="1"/>
              <a:t>расходы</a:t>
            </a:r>
            <a:r>
              <a:rPr dirty="0"/>
              <a:t>.</a:t>
            </a:r>
          </a:p>
          <a:p>
            <a:r>
              <a:rPr dirty="0" err="1"/>
              <a:t>Цель</a:t>
            </a:r>
            <a:r>
              <a:rPr dirty="0"/>
              <a:t>: 25+ </a:t>
            </a:r>
            <a:r>
              <a:rPr dirty="0" err="1"/>
              <a:t>корпоративных</a:t>
            </a:r>
            <a:r>
              <a:rPr dirty="0"/>
              <a:t> </a:t>
            </a:r>
            <a:r>
              <a:rPr dirty="0" err="1"/>
              <a:t>клиентов</a:t>
            </a:r>
            <a:r>
              <a:rPr dirty="0"/>
              <a:t> и ARR </a:t>
            </a:r>
            <a:r>
              <a:rPr dirty="0" err="1"/>
              <a:t>выше</a:t>
            </a:r>
            <a:r>
              <a:rPr dirty="0"/>
              <a:t> 30 </a:t>
            </a:r>
            <a:r>
              <a:rPr dirty="0" err="1"/>
              <a:t>млн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./</a:t>
            </a:r>
            <a:r>
              <a:rPr dirty="0" err="1"/>
              <a:t>год</a:t>
            </a:r>
            <a:r>
              <a:rPr dirty="0"/>
              <a:t>.</a:t>
            </a:r>
          </a:p>
          <a:p>
            <a:r>
              <a:rPr dirty="0"/>
              <a:t>В </a:t>
            </a:r>
            <a:r>
              <a:rPr dirty="0" err="1"/>
              <a:t>понятной</a:t>
            </a:r>
            <a:r>
              <a:rPr dirty="0"/>
              <a:t> </a:t>
            </a:r>
            <a:r>
              <a:rPr dirty="0" err="1"/>
              <a:t>форме</a:t>
            </a:r>
            <a:r>
              <a:rPr dirty="0"/>
              <a:t>: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каждый</a:t>
            </a:r>
            <a:r>
              <a:rPr dirty="0"/>
              <a:t> 1 </a:t>
            </a:r>
            <a:r>
              <a:rPr dirty="0" err="1"/>
              <a:t>млн</a:t>
            </a:r>
            <a:r>
              <a:rPr dirty="0"/>
              <a:t> </a:t>
            </a:r>
            <a:r>
              <a:rPr dirty="0" err="1"/>
              <a:t>инвестиций</a:t>
            </a:r>
            <a:r>
              <a:rPr dirty="0"/>
              <a:t> </a:t>
            </a:r>
            <a:r>
              <a:rPr dirty="0" err="1"/>
              <a:t>формируем</a:t>
            </a:r>
            <a:r>
              <a:rPr dirty="0"/>
              <a:t> </a:t>
            </a:r>
            <a:r>
              <a:rPr dirty="0" err="1"/>
              <a:t>основу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масштабируемого</a:t>
            </a:r>
            <a:r>
              <a:rPr dirty="0"/>
              <a:t> B2B-продукта.</a:t>
            </a:r>
          </a:p>
          <a:p>
            <a:r>
              <a:rPr dirty="0" err="1"/>
              <a:t>Источник</a:t>
            </a:r>
            <a:r>
              <a:rPr dirty="0"/>
              <a:t>: </a:t>
            </a:r>
            <a:r>
              <a:rPr dirty="0" err="1"/>
              <a:t>финансовая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 и </a:t>
            </a:r>
            <a:r>
              <a:rPr dirty="0" err="1"/>
              <a:t>целевые</a:t>
            </a:r>
            <a:r>
              <a:rPr dirty="0"/>
              <a:t> KPI </a:t>
            </a:r>
            <a:r>
              <a:rPr dirty="0" err="1"/>
              <a:t>команды</a:t>
            </a:r>
            <a:r>
              <a:rPr dirty="0"/>
              <a:t> </a:t>
            </a:r>
            <a:r>
              <a:rPr dirty="0" err="1"/>
              <a:t>SafeAgriRoute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1809</Words>
  <Application>Microsoft Office PowerPoint</Application>
  <PresentationFormat>Широкоэкранный</PresentationFormat>
  <Paragraphs>109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Mulish</vt:lpstr>
      <vt:lpstr>Calibri</vt:lpstr>
      <vt:lpstr>Arial</vt:lpstr>
      <vt:lpstr>Times New Roman</vt:lpstr>
      <vt:lpstr>Тема Office</vt:lpstr>
      <vt:lpstr>ПРОЕКТ</vt:lpstr>
      <vt:lpstr>ПРОБЛЕМА</vt:lpstr>
      <vt:lpstr>РЕШЕНИЕ</vt:lpstr>
      <vt:lpstr>УНИКАЛЬНОСТЬ</vt:lpstr>
      <vt:lpstr>ОПИСАНИЕ ПРОДУКТА</vt:lpstr>
      <vt:lpstr>РЕЗУЛЬТАТЫ ТЕСТИРОВАНИЯ</vt:lpstr>
      <vt:lpstr>БИЗНЕС-МОДЕЛЬ</vt:lpstr>
      <vt:lpstr>АНАЛИЗ РЫНКА</vt:lpstr>
      <vt:lpstr>АНАЛИЗ КОНКУРЕНТОВ</vt:lpstr>
      <vt:lpstr>ФИНАНСОВЫЕ ПОКАЗАТЕЛИ</vt:lpstr>
      <vt:lpstr>РОСТ</vt:lpstr>
      <vt:lpstr>РИСКИ</vt:lpstr>
      <vt:lpstr>ИНВЕСТИЦИИ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</dc:title>
  <cp:lastModifiedBy>Sutormin Matvei</cp:lastModifiedBy>
  <cp:revision>2</cp:revision>
  <dcterms:modified xsi:type="dcterms:W3CDTF">2026-04-29T09:49:27Z</dcterms:modified>
</cp:coreProperties>
</file>